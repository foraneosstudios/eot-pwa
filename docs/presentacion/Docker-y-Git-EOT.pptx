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0F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 2"/>
          <p:cNvSpPr txBox="1"/>
          <p:nvPr/>
        </p:nvSpPr>
        <p:spPr>
          <a:xfrm>
            <a:off x="457200" y="228600"/>
            <a:ext cx="11247120" cy="411480"/>
          </a:xfrm>
          <a:prstGeom prst="rect">
            <a:avLst/>
          </a:prstGeom>
          <a:noFill/>
          <a:ln>
            <a:noFill/>
          </a:ln>
        </p:spPr>
        <p:txBody>
          <a:bodyPr wrap="square" lIns="180000" rIns="180000" tIns="140000" bIns="60000"/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lang="es-MX" sz="1200" b="0">
                <a:solidFill>
                  <a:srgbClr val="C8A97E"/>
                </a:solidFill>
                <a:latin typeface="Aptos"/>
              </a:rPr>
              <a:t xml:space="preserve">EOT  /  GIT + DOCKER                                            1 / 10</a:t>
            </a:r>
          </a:p>
        </p:txBody>
      </p:sp>
      <p:sp>
        <p:nvSpPr>
          <p:cNvPr id="3" name="Texto 3"/>
          <p:cNvSpPr txBox="1"/>
          <p:nvPr/>
        </p:nvSpPr>
        <p:spPr>
          <a:xfrm>
            <a:off x="457200" y="868680"/>
            <a:ext cx="11247120" cy="777240"/>
          </a:xfrm>
          <a:prstGeom prst="rect">
            <a:avLst/>
          </a:prstGeom>
          <a:noFill/>
          <a:ln>
            <a:noFill/>
          </a:ln>
        </p:spPr>
        <p:txBody>
          <a:bodyPr wrap="square" lIns="180000" rIns="180000" tIns="140000" bIns="60000"/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lang="es-MX" sz="3200" b="1">
                <a:solidFill>
                  <a:srgbClr val="F4EDE3"/>
                </a:solidFill>
                <a:latin typeface="Aptos"/>
              </a:rPr>
              <a:t xml:space="preserve">Dockerización de una PWA</a:t>
            </a:r>
          </a:p>
        </p:txBody>
      </p:sp>
      <p:sp>
        <p:nvSpPr>
          <p:cNvPr id="4" name="Texto 4"/>
          <p:cNvSpPr txBox="1"/>
          <p:nvPr/>
        </p:nvSpPr>
        <p:spPr>
          <a:xfrm>
            <a:off x="457200" y="1691640"/>
            <a:ext cx="11247120" cy="594360"/>
          </a:xfrm>
          <a:prstGeom prst="rect">
            <a:avLst/>
          </a:prstGeom>
          <a:noFill/>
          <a:ln>
            <a:noFill/>
          </a:ln>
        </p:spPr>
        <p:txBody>
          <a:bodyPr wrap="square" lIns="180000" rIns="180000" tIns="140000" bIns="60000"/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lang="es-MX" sz="1800" b="0">
                <a:solidFill>
                  <a:srgbClr val="BDB7B1"/>
                </a:solidFill>
                <a:latin typeface="Aptos"/>
              </a:rPr>
              <a:t xml:space="preserve">Echoes of the Throne</a:t>
            </a:r>
          </a:p>
        </p:txBody>
      </p:sp>
      <p:sp>
        <p:nvSpPr>
          <p:cNvPr id="5" name="Texto 5"/>
          <p:cNvSpPr txBox="1"/>
          <p:nvPr/>
        </p:nvSpPr>
        <p:spPr>
          <a:xfrm>
            <a:off x="594360" y="2468880"/>
            <a:ext cx="5394960" cy="3520440"/>
          </a:xfrm>
          <a:prstGeom prst="rect">
            <a:avLst/>
          </a:prstGeom>
          <a:noFill/>
          <a:ln>
            <a:noFill/>
          </a:ln>
        </p:spPr>
        <p:txBody>
          <a:bodyPr wrap="square" lIns="180000" rIns="180000" tIns="140000" bIns="60000"/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lang="es-MX" sz="2000" b="0">
                <a:solidFill>
                  <a:srgbClr val="F4EDE3"/>
                </a:solidFill>
                <a:latin typeface="Aptos"/>
              </a:rPr>
              <a:t xml:space="preserve">Práctica de Git/GitHub y Docker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lang="es-MX" sz="2000" b="0">
                <a:solidFill>
                  <a:srgbClr val="F4EDE3"/>
                </a:solidFill>
                <a:latin typeface="Aptos"/>
              </a:rPr>
              <a:t xml:space="preserve"/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lang="es-MX" sz="2000" b="0">
                <a:solidFill>
                  <a:srgbClr val="F4EDE3"/>
                </a:solidFill>
                <a:latin typeface="Aptos"/>
              </a:rPr>
              <a:t xml:space="preserve">Integrantes: ____________________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lang="es-MX" sz="2000" b="0">
                <a:solidFill>
                  <a:srgbClr val="F4EDE3"/>
                </a:solidFill>
                <a:latin typeface="Aptos"/>
              </a:rPr>
              <a:t xml:space="preserve">Materia: _______________________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lang="es-MX" sz="2000" b="0">
                <a:solidFill>
                  <a:srgbClr val="F4EDE3"/>
                </a:solidFill>
                <a:latin typeface="Aptos"/>
              </a:rPr>
              <a:t xml:space="preserve">Docente: _______________________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lang="es-MX" sz="2000" b="0">
                <a:solidFill>
                  <a:srgbClr val="F4EDE3"/>
                </a:solidFill>
                <a:latin typeface="Aptos"/>
              </a:rPr>
              <a:t xml:space="preserve">Fecha: _________________________</a:t>
            </a:r>
          </a:p>
        </p:txBody>
      </p:sp>
      <p:sp>
        <p:nvSpPr>
          <p:cNvPr id="6" name="Texto 6"/>
          <p:cNvSpPr txBox="1"/>
          <p:nvPr/>
        </p:nvSpPr>
        <p:spPr>
          <a:xfrm>
            <a:off x="6217920" y="2468880"/>
            <a:ext cx="5394960" cy="3520440"/>
          </a:xfrm>
          <a:prstGeom prst="rect">
            <a:avLst/>
          </a:prstGeom>
          <a:noFill/>
          <a:ln>
            <a:noFill/>
          </a:ln>
        </p:spPr>
        <p:txBody>
          <a:bodyPr wrap="square" lIns="180000" rIns="180000" tIns="140000" bIns="60000"/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lang="es-MX" sz="2100" b="0">
                <a:solidFill>
                  <a:srgbClr val="F4EDE3"/>
                </a:solidFill>
                <a:latin typeface="Aptos"/>
              </a:rPr>
              <a:t xml:space="preserve">OBJETIVO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lang="es-MX" sz="2100" b="0">
                <a:solidFill>
                  <a:srgbClr val="F4EDE3"/>
                </a:solidFill>
                <a:latin typeface="Aptos"/>
              </a:rPr>
              <a:t xml:space="preserve">Aplicar control de versiones y preparar un contenedor para ejecutar nuestra PWA.</a:t>
            </a:r>
          </a:p>
        </p:txBody>
      </p:sp>
      <p:sp>
        <p:nvSpPr>
          <p:cNvPr id="7" name="Texto 7"/>
          <p:cNvSpPr txBox="1"/>
          <p:nvPr/>
        </p:nvSpPr>
        <p:spPr>
          <a:xfrm>
            <a:off x="457200" y="6080760"/>
            <a:ext cx="11247120" cy="594360"/>
          </a:xfrm>
          <a:prstGeom prst="rect">
            <a:avLst/>
          </a:prstGeom>
          <a:noFill/>
          <a:ln>
            <a:noFill/>
          </a:ln>
        </p:spPr>
        <p:txBody>
          <a:bodyPr wrap="square" lIns="180000" rIns="180000" tIns="140000" bIns="60000"/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lang="es-MX" sz="1300" b="0">
                <a:solidFill>
                  <a:srgbClr val="C8A97E"/>
                </a:solidFill>
                <a:latin typeface="Aptos"/>
              </a:rPr>
              <a:t xml:space="preserve">React + Vite · Nginx · Spring Boot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0F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 2"/>
          <p:cNvSpPr txBox="1"/>
          <p:nvPr/>
        </p:nvSpPr>
        <p:spPr>
          <a:xfrm>
            <a:off x="457200" y="228600"/>
            <a:ext cx="11247120" cy="411480"/>
          </a:xfrm>
          <a:prstGeom prst="rect">
            <a:avLst/>
          </a:prstGeom>
          <a:noFill/>
          <a:ln>
            <a:noFill/>
          </a:ln>
        </p:spPr>
        <p:txBody>
          <a:bodyPr wrap="square" lIns="180000" rIns="180000" tIns="140000" bIns="60000"/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lang="es-MX" sz="1200" b="0">
                <a:solidFill>
                  <a:srgbClr val="C8A97E"/>
                </a:solidFill>
                <a:latin typeface="Aptos"/>
              </a:rPr>
              <a:t xml:space="preserve">EOT  /  GIT + DOCKER                                            2 / 10</a:t>
            </a:r>
          </a:p>
        </p:txBody>
      </p:sp>
      <p:sp>
        <p:nvSpPr>
          <p:cNvPr id="3" name="Texto 3"/>
          <p:cNvSpPr txBox="1"/>
          <p:nvPr/>
        </p:nvSpPr>
        <p:spPr>
          <a:xfrm>
            <a:off x="457200" y="868680"/>
            <a:ext cx="11247120" cy="777240"/>
          </a:xfrm>
          <a:prstGeom prst="rect">
            <a:avLst/>
          </a:prstGeom>
          <a:noFill/>
          <a:ln>
            <a:noFill/>
          </a:ln>
        </p:spPr>
        <p:txBody>
          <a:bodyPr wrap="square" lIns="180000" rIns="180000" tIns="140000" bIns="60000"/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lang="es-MX" sz="3200" b="1">
                <a:solidFill>
                  <a:srgbClr val="F4EDE3"/>
                </a:solidFill>
                <a:latin typeface="Aptos"/>
              </a:rPr>
              <a:t xml:space="preserve">¿Qué es Docker?</a:t>
            </a:r>
          </a:p>
        </p:txBody>
      </p:sp>
      <p:sp>
        <p:nvSpPr>
          <p:cNvPr id="4" name="Texto 4"/>
          <p:cNvSpPr txBox="1"/>
          <p:nvPr/>
        </p:nvSpPr>
        <p:spPr>
          <a:xfrm>
            <a:off x="457200" y="1691640"/>
            <a:ext cx="11247120" cy="594360"/>
          </a:xfrm>
          <a:prstGeom prst="rect">
            <a:avLst/>
          </a:prstGeom>
          <a:noFill/>
          <a:ln>
            <a:noFill/>
          </a:ln>
        </p:spPr>
        <p:txBody>
          <a:bodyPr wrap="square" lIns="180000" rIns="180000" tIns="140000" bIns="60000"/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lang="es-MX" sz="1800" b="0">
                <a:solidFill>
                  <a:srgbClr val="BDB7B1"/>
                </a:solidFill>
                <a:latin typeface="Aptos"/>
              </a:rPr>
              <a:t xml:space="preserve">Empaqueta aplicaciones y permite ejecutarlas en contenedores.</a:t>
            </a:r>
          </a:p>
        </p:txBody>
      </p:sp>
      <p:sp>
        <p:nvSpPr>
          <p:cNvPr id="5" name="Texto 5"/>
          <p:cNvSpPr txBox="1"/>
          <p:nvPr/>
        </p:nvSpPr>
        <p:spPr>
          <a:xfrm>
            <a:off x="594360" y="2468880"/>
            <a:ext cx="5394960" cy="3520440"/>
          </a:xfrm>
          <a:prstGeom prst="rect">
            <a:avLst/>
          </a:prstGeom>
          <a:solidFill>
            <a:srgbClr val="252126"/>
          </a:solidFill>
          <a:ln>
            <a:noFill/>
          </a:ln>
        </p:spPr>
        <p:txBody>
          <a:bodyPr wrap="square" lIns="180000" rIns="180000" tIns="140000" bIns="60000"/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lang="es-MX" sz="2100" b="0">
                <a:solidFill>
                  <a:srgbClr val="F4EDE3"/>
                </a:solidFill>
                <a:latin typeface="Aptos"/>
              </a:rPr>
              <a:t xml:space="preserve">Dockerfile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lang="es-MX" sz="2100" b="0">
                <a:solidFill>
                  <a:srgbClr val="F4EDE3"/>
                </a:solidFill>
                <a:latin typeface="Aptos"/>
              </a:rPr>
              <a:t xml:space="preserve">La receta con los pasos para construir la imagen.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lang="es-MX" sz="2100" b="0">
                <a:solidFill>
                  <a:srgbClr val="F4EDE3"/>
                </a:solidFill>
                <a:latin typeface="Aptos"/>
              </a:rPr>
              <a:t xml:space="preserve">Imagen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lang="es-MX" sz="2100" b="0">
                <a:solidFill>
                  <a:srgbClr val="F4EDE3"/>
                </a:solidFill>
                <a:latin typeface="Aptos"/>
              </a:rPr>
              <a:t xml:space="preserve">El paquete de la aplicación y su entorno.</a:t>
            </a:r>
          </a:p>
        </p:txBody>
      </p:sp>
      <p:sp>
        <p:nvSpPr>
          <p:cNvPr id="6" name="Texto 6"/>
          <p:cNvSpPr txBox="1"/>
          <p:nvPr/>
        </p:nvSpPr>
        <p:spPr>
          <a:xfrm>
            <a:off x="6217920" y="2468880"/>
            <a:ext cx="5394960" cy="3520440"/>
          </a:xfrm>
          <a:prstGeom prst="rect">
            <a:avLst/>
          </a:prstGeom>
          <a:solidFill>
            <a:srgbClr val="352125"/>
          </a:solidFill>
          <a:ln>
            <a:noFill/>
          </a:ln>
        </p:spPr>
        <p:txBody>
          <a:bodyPr wrap="square" lIns="180000" rIns="180000" tIns="140000" bIns="60000"/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lang="es-MX" sz="2100" b="0">
                <a:solidFill>
                  <a:srgbClr val="F4EDE3"/>
                </a:solidFill>
                <a:latin typeface="Aptos"/>
              </a:rPr>
              <a:t xml:space="preserve">Contenedor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lang="es-MX" sz="2100" b="0">
                <a:solidFill>
                  <a:srgbClr val="F4EDE3"/>
                </a:solidFill>
                <a:latin typeface="Aptos"/>
              </a:rPr>
              <a:t xml:space="preserve">Una instancia de la imagen en ejecución.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lang="es-MX" sz="2100" b="0">
                <a:solidFill>
                  <a:srgbClr val="F4EDE3"/>
                </a:solidFill>
                <a:latin typeface="Aptos"/>
              </a:rPr>
              <a:t xml:space="preserve">En nuestro proyecto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lang="es-MX" sz="2100" b="0">
                <a:solidFill>
                  <a:srgbClr val="F4EDE3"/>
                </a:solidFill>
                <a:latin typeface="Aptos"/>
              </a:rPr>
              <a:t xml:space="preserve">Node compila la PWA y Nginx entrega los archivos al navegador.</a:t>
            </a:r>
          </a:p>
        </p:txBody>
      </p:sp>
      <p:sp>
        <p:nvSpPr>
          <p:cNvPr id="7" name="Texto 7"/>
          <p:cNvSpPr txBox="1"/>
          <p:nvPr/>
        </p:nvSpPr>
        <p:spPr>
          <a:xfrm>
            <a:off x="457200" y="6080760"/>
            <a:ext cx="11247120" cy="594360"/>
          </a:xfrm>
          <a:prstGeom prst="rect">
            <a:avLst/>
          </a:prstGeom>
          <a:noFill/>
          <a:ln>
            <a:noFill/>
          </a:ln>
        </p:spPr>
        <p:txBody>
          <a:bodyPr wrap="square" lIns="180000" rIns="180000" tIns="140000" bIns="60000"/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lang="es-MX" sz="1300" b="0">
                <a:solidFill>
                  <a:srgbClr val="C8A97E"/>
                </a:solidFill>
                <a:latin typeface="Aptos"/>
              </a:rPr>
              <a:t xml:space="preserve">El manifest y el service worker aportan las capacidades PWA; Docker facilita su ejecución.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0F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 2"/>
          <p:cNvSpPr txBox="1"/>
          <p:nvPr/>
        </p:nvSpPr>
        <p:spPr>
          <a:xfrm>
            <a:off x="457200" y="228600"/>
            <a:ext cx="11247120" cy="411480"/>
          </a:xfrm>
          <a:prstGeom prst="rect">
            <a:avLst/>
          </a:prstGeom>
          <a:noFill/>
          <a:ln>
            <a:noFill/>
          </a:ln>
        </p:spPr>
        <p:txBody>
          <a:bodyPr wrap="square" lIns="180000" rIns="180000" tIns="140000" bIns="60000"/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lang="es-MX" sz="1200" b="0">
                <a:solidFill>
                  <a:srgbClr val="C8A97E"/>
                </a:solidFill>
                <a:latin typeface="Aptos"/>
              </a:rPr>
              <a:t xml:space="preserve">EOT  /  GIT + DOCKER                                            3 / 10</a:t>
            </a:r>
          </a:p>
        </p:txBody>
      </p:sp>
      <p:sp>
        <p:nvSpPr>
          <p:cNvPr id="3" name="Texto 3"/>
          <p:cNvSpPr txBox="1"/>
          <p:nvPr/>
        </p:nvSpPr>
        <p:spPr>
          <a:xfrm>
            <a:off x="457200" y="868680"/>
            <a:ext cx="11247120" cy="777240"/>
          </a:xfrm>
          <a:prstGeom prst="rect">
            <a:avLst/>
          </a:prstGeom>
          <a:noFill/>
          <a:ln>
            <a:noFill/>
          </a:ln>
        </p:spPr>
        <p:txBody>
          <a:bodyPr wrap="square" lIns="180000" rIns="180000" tIns="140000" bIns="60000"/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lang="es-MX" sz="3200" b="1">
                <a:solidFill>
                  <a:srgbClr val="F4EDE3"/>
                </a:solidFill>
                <a:latin typeface="Aptos"/>
              </a:rPr>
              <a:t xml:space="preserve">Ventajas para nuestra PWA</a:t>
            </a:r>
          </a:p>
        </p:txBody>
      </p:sp>
      <p:sp>
        <p:nvSpPr>
          <p:cNvPr id="4" name="Texto 4"/>
          <p:cNvSpPr txBox="1"/>
          <p:nvPr/>
        </p:nvSpPr>
        <p:spPr>
          <a:xfrm>
            <a:off x="457200" y="1691640"/>
            <a:ext cx="11247120" cy="594360"/>
          </a:xfrm>
          <a:prstGeom prst="rect">
            <a:avLst/>
          </a:prstGeom>
          <a:noFill/>
          <a:ln>
            <a:noFill/>
          </a:ln>
        </p:spPr>
        <p:txBody>
          <a:bodyPr wrap="square" lIns="180000" rIns="180000" tIns="140000" bIns="60000"/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lang="es-MX" sz="1800" b="0">
                <a:solidFill>
                  <a:srgbClr val="BDB7B1"/>
                </a:solidFill>
                <a:latin typeface="Aptos"/>
              </a:rPr>
              <a:t xml:space="preserve">Un entorno consistente para el equipo y las entregas.</a:t>
            </a:r>
          </a:p>
        </p:txBody>
      </p:sp>
      <p:sp>
        <p:nvSpPr>
          <p:cNvPr id="5" name="Texto 5"/>
          <p:cNvSpPr txBox="1"/>
          <p:nvPr/>
        </p:nvSpPr>
        <p:spPr>
          <a:xfrm>
            <a:off x="594360" y="2468880"/>
            <a:ext cx="5394960" cy="3520440"/>
          </a:xfrm>
          <a:prstGeom prst="rect">
            <a:avLst/>
          </a:prstGeom>
          <a:solidFill>
            <a:srgbClr val="252126"/>
          </a:solidFill>
          <a:ln>
            <a:noFill/>
          </a:ln>
        </p:spPr>
        <p:txBody>
          <a:bodyPr wrap="square" lIns="180000" rIns="180000" tIns="140000" bIns="60000"/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lang="es-MX" sz="2100" b="0">
                <a:solidFill>
                  <a:srgbClr val="F4EDE3"/>
                </a:solidFill>
                <a:latin typeface="Aptos"/>
              </a:rPr>
              <a:t xml:space="preserve">DESARROLLO EN EQUIPO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lang="es-MX" sz="2100" b="0">
                <a:solidFill>
                  <a:srgbClr val="F4EDE3"/>
                </a:solidFill>
                <a:latin typeface="Aptos"/>
              </a:rPr>
              <a:t xml:space="preserve">Construcción con un entorno definido.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lang="es-MX" sz="2100" b="0">
                <a:solidFill>
                  <a:srgbClr val="F4EDE3"/>
                </a:solidFill>
                <a:latin typeface="Aptos"/>
              </a:rPr>
              <a:t xml:space="preserve">Pruebas con la misma imagen.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lang="es-MX" sz="2100" b="0">
                <a:solidFill>
                  <a:srgbClr val="F4EDE3"/>
                </a:solidFill>
                <a:latin typeface="Aptos"/>
              </a:rPr>
              <a:t xml:space="preserve">Menos configuración manual de Node y Nginx.</a:t>
            </a:r>
          </a:p>
        </p:txBody>
      </p:sp>
      <p:sp>
        <p:nvSpPr>
          <p:cNvPr id="6" name="Texto 6"/>
          <p:cNvSpPr txBox="1"/>
          <p:nvPr/>
        </p:nvSpPr>
        <p:spPr>
          <a:xfrm>
            <a:off x="6217920" y="2468880"/>
            <a:ext cx="5394960" cy="3520440"/>
          </a:xfrm>
          <a:prstGeom prst="rect">
            <a:avLst/>
          </a:prstGeom>
          <a:solidFill>
            <a:srgbClr val="352125"/>
          </a:solidFill>
          <a:ln>
            <a:noFill/>
          </a:ln>
        </p:spPr>
        <p:txBody>
          <a:bodyPr wrap="square" lIns="180000" rIns="180000" tIns="140000" bIns="60000"/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lang="es-MX" sz="2100" b="0">
                <a:solidFill>
                  <a:srgbClr val="F4EDE3"/>
                </a:solidFill>
                <a:latin typeface="Aptos"/>
              </a:rPr>
              <a:t xml:space="preserve">ENTREGA DEL PROYECTO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lang="es-MX" sz="2100" b="0">
                <a:solidFill>
                  <a:srgbClr val="F4EDE3"/>
                </a:solidFill>
                <a:latin typeface="Aptos"/>
              </a:rPr>
              <a:t xml:space="preserve">Probar la versión de producción.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lang="es-MX" sz="2100" b="0">
                <a:solidFill>
                  <a:srgbClr val="F4EDE3"/>
                </a:solidFill>
                <a:latin typeface="Aptos"/>
              </a:rPr>
              <a:t xml:space="preserve">Identificar imágenes con etiquetas.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lang="es-MX" sz="2100" b="0">
                <a:solidFill>
                  <a:srgbClr val="F4EDE3"/>
                </a:solidFill>
                <a:latin typeface="Aptos"/>
              </a:rPr>
              <a:t xml:space="preserve">Ejecutar la imagen en servidores compatibles.</a:t>
            </a:r>
          </a:p>
        </p:txBody>
      </p:sp>
      <p:sp>
        <p:nvSpPr>
          <p:cNvPr id="7" name="Texto 7"/>
          <p:cNvSpPr txBox="1"/>
          <p:nvPr/>
        </p:nvSpPr>
        <p:spPr>
          <a:xfrm>
            <a:off x="457200" y="6080760"/>
            <a:ext cx="11247120" cy="594360"/>
          </a:xfrm>
          <a:prstGeom prst="rect">
            <a:avLst/>
          </a:prstGeom>
          <a:noFill/>
          <a:ln>
            <a:noFill/>
          </a:ln>
        </p:spPr>
        <p:txBody>
          <a:bodyPr wrap="square" lIns="180000" rIns="180000" tIns="140000" bIns="60000"/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lang="es-MX" sz="1300" b="0">
                <a:solidFill>
                  <a:srgbClr val="C8A97E"/>
                </a:solidFill>
                <a:latin typeface="Aptos"/>
              </a:rPr>
              <a:t xml:space="preserve">Para editar usamos npm run dev; para probar la entrega reconstruimos la imagen.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0F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 2"/>
          <p:cNvSpPr txBox="1"/>
          <p:nvPr/>
        </p:nvSpPr>
        <p:spPr>
          <a:xfrm>
            <a:off x="457200" y="228600"/>
            <a:ext cx="11247120" cy="411480"/>
          </a:xfrm>
          <a:prstGeom prst="rect">
            <a:avLst/>
          </a:prstGeom>
          <a:noFill/>
          <a:ln>
            <a:noFill/>
          </a:ln>
        </p:spPr>
        <p:txBody>
          <a:bodyPr wrap="square" lIns="180000" rIns="180000" tIns="140000" bIns="60000"/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lang="es-MX" sz="1200" b="0">
                <a:solidFill>
                  <a:srgbClr val="C8A97E"/>
                </a:solidFill>
                <a:latin typeface="Aptos"/>
              </a:rPr>
              <a:t xml:space="preserve">EOT  /  GIT + DOCKER                                            4 / 10</a:t>
            </a:r>
          </a:p>
        </p:txBody>
      </p:sp>
      <p:sp>
        <p:nvSpPr>
          <p:cNvPr id="3" name="Texto 3"/>
          <p:cNvSpPr txBox="1"/>
          <p:nvPr/>
        </p:nvSpPr>
        <p:spPr>
          <a:xfrm>
            <a:off x="457200" y="868680"/>
            <a:ext cx="11247120" cy="777240"/>
          </a:xfrm>
          <a:prstGeom prst="rect">
            <a:avLst/>
          </a:prstGeom>
          <a:noFill/>
          <a:ln>
            <a:noFill/>
          </a:ln>
        </p:spPr>
        <p:txBody>
          <a:bodyPr wrap="square" lIns="180000" rIns="180000" tIns="140000" bIns="60000"/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lang="es-MX" sz="3200" b="1">
                <a:solidFill>
                  <a:srgbClr val="F4EDE3"/>
                </a:solidFill>
                <a:latin typeface="Aptos"/>
              </a:rPr>
              <a:t xml:space="preserve">Arquitectura y puertos</a:t>
            </a:r>
          </a:p>
        </p:txBody>
      </p:sp>
      <p:sp>
        <p:nvSpPr>
          <p:cNvPr id="4" name="Texto 4"/>
          <p:cNvSpPr txBox="1"/>
          <p:nvPr/>
        </p:nvSpPr>
        <p:spPr>
          <a:xfrm>
            <a:off x="457200" y="1691640"/>
            <a:ext cx="11247120" cy="594360"/>
          </a:xfrm>
          <a:prstGeom prst="rect">
            <a:avLst/>
          </a:prstGeom>
          <a:noFill/>
          <a:ln>
            <a:noFill/>
          </a:ln>
        </p:spPr>
        <p:txBody>
          <a:bodyPr wrap="square" lIns="180000" rIns="180000" tIns="140000" bIns="60000"/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lang="es-MX" sz="1800" b="0">
                <a:solidFill>
                  <a:srgbClr val="BDB7B1"/>
                </a:solidFill>
                <a:latin typeface="Aptos"/>
              </a:rPr>
              <a:t xml:space="preserve">Frontend en Docker + Spring Boot ejecutándose en la computadora.</a:t>
            </a:r>
          </a:p>
        </p:txBody>
      </p:sp>
      <p:sp>
        <p:nvSpPr>
          <p:cNvPr id="5" name="Texto 5"/>
          <p:cNvSpPr txBox="1"/>
          <p:nvPr/>
        </p:nvSpPr>
        <p:spPr>
          <a:xfrm>
            <a:off x="594360" y="2468880"/>
            <a:ext cx="5394960" cy="3520440"/>
          </a:xfrm>
          <a:prstGeom prst="rect">
            <a:avLst/>
          </a:prstGeom>
          <a:solidFill>
            <a:srgbClr val="252126"/>
          </a:solidFill>
          <a:ln>
            <a:noFill/>
          </a:ln>
        </p:spPr>
        <p:txBody>
          <a:bodyPr wrap="square" lIns="180000" rIns="180000" tIns="140000" bIns="60000"/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lang="es-MX" sz="2100" b="0">
                <a:solidFill>
                  <a:srgbClr val="F4EDE3"/>
                </a:solidFill>
                <a:latin typeface="Aptos"/>
              </a:rPr>
              <a:t xml:space="preserve">NAVEGADOR → FRONTEND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lang="es-MX" sz="2100" b="0">
                <a:solidFill>
                  <a:srgbClr val="F4EDE3"/>
                </a:solidFill>
                <a:latin typeface="Aptos"/>
              </a:rPr>
              <a:t xml:space="preserve">http://localhost:3000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lang="es-MX" sz="2100" b="0">
                <a:solidFill>
                  <a:srgbClr val="F4EDE3"/>
                </a:solidFill>
                <a:latin typeface="Aptos"/>
              </a:rPr>
              <a:t xml:space="preserve">Docker conecta 3000 del equipo con 80 de Nginx.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lang="es-MX" sz="2100" b="0">
                <a:solidFill>
                  <a:srgbClr val="F4EDE3"/>
                </a:solidFill>
                <a:latin typeface="Aptos"/>
              </a:rPr>
              <a:t xml:space="preserve">Nginx sirve React compilado.</a:t>
            </a:r>
          </a:p>
        </p:txBody>
      </p:sp>
      <p:sp>
        <p:nvSpPr>
          <p:cNvPr id="6" name="Texto 6"/>
          <p:cNvSpPr txBox="1"/>
          <p:nvPr/>
        </p:nvSpPr>
        <p:spPr>
          <a:xfrm>
            <a:off x="6217920" y="2468880"/>
            <a:ext cx="5394960" cy="3520440"/>
          </a:xfrm>
          <a:prstGeom prst="rect">
            <a:avLst/>
          </a:prstGeom>
          <a:solidFill>
            <a:srgbClr val="352125"/>
          </a:solidFill>
          <a:ln>
            <a:noFill/>
          </a:ln>
        </p:spPr>
        <p:txBody>
          <a:bodyPr wrap="square" lIns="180000" rIns="180000" tIns="140000" bIns="60000"/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lang="es-MX" sz="2100" b="0">
                <a:solidFill>
                  <a:srgbClr val="F4EDE3"/>
                </a:solidFill>
                <a:latin typeface="Aptos"/>
              </a:rPr>
              <a:t xml:space="preserve">NAVEGADOR → BACKEND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lang="es-MX" sz="2100" b="0">
                <a:solidFill>
                  <a:srgbClr val="F4EDE3"/>
                </a:solidFill>
                <a:latin typeface="Aptos"/>
              </a:rPr>
              <a:t xml:space="preserve">http://localhost:8080/api/v1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lang="es-MX" sz="2100" b="0">
                <a:solidFill>
                  <a:srgbClr val="F4EDE3"/>
                </a:solidFill>
                <a:latin typeface="Aptos"/>
              </a:rPr>
              <a:t xml:space="preserve">Spring Boot se inicia por separado.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lang="es-MX" sz="2100" b="0">
                <a:solidFill>
                  <a:srgbClr val="F4EDE3"/>
                </a:solidFill>
                <a:latin typeface="Aptos"/>
              </a:rPr>
              <a:t xml:space="preserve">CORS debe permitir el origen http://localhost:3000.</a:t>
            </a:r>
          </a:p>
        </p:txBody>
      </p:sp>
      <p:sp>
        <p:nvSpPr>
          <p:cNvPr id="7" name="Texto 7"/>
          <p:cNvSpPr txBox="1"/>
          <p:nvPr/>
        </p:nvSpPr>
        <p:spPr>
          <a:xfrm>
            <a:off x="457200" y="6080760"/>
            <a:ext cx="11247120" cy="594360"/>
          </a:xfrm>
          <a:prstGeom prst="rect">
            <a:avLst/>
          </a:prstGeom>
          <a:noFill/>
          <a:ln>
            <a:noFill/>
          </a:ln>
        </p:spPr>
        <p:txBody>
          <a:bodyPr wrap="square" lIns="180000" rIns="180000" tIns="140000" bIns="60000"/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lang="es-MX" sz="1300" b="0">
                <a:solidFill>
                  <a:srgbClr val="C8A97E"/>
                </a:solidFill>
                <a:latin typeface="Aptos"/>
              </a:rPr>
              <a:t xml:space="preserve">Usamos 3000 para el frontend porque Spring Boot ocupa 8080. Las peticiones salen del navegador.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0F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 2"/>
          <p:cNvSpPr txBox="1"/>
          <p:nvPr/>
        </p:nvSpPr>
        <p:spPr>
          <a:xfrm>
            <a:off x="457200" y="228600"/>
            <a:ext cx="11247120" cy="411480"/>
          </a:xfrm>
          <a:prstGeom prst="rect">
            <a:avLst/>
          </a:prstGeom>
          <a:noFill/>
          <a:ln>
            <a:noFill/>
          </a:ln>
        </p:spPr>
        <p:txBody>
          <a:bodyPr wrap="square" lIns="180000" rIns="180000" tIns="140000" bIns="60000"/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lang="es-MX" sz="1200" b="0">
                <a:solidFill>
                  <a:srgbClr val="C8A97E"/>
                </a:solidFill>
                <a:latin typeface="Aptos"/>
              </a:rPr>
              <a:t xml:space="preserve">EOT  /  GIT + DOCKER                                            5 / 10</a:t>
            </a:r>
          </a:p>
        </p:txBody>
      </p:sp>
      <p:sp>
        <p:nvSpPr>
          <p:cNvPr id="3" name="Texto 3"/>
          <p:cNvSpPr txBox="1"/>
          <p:nvPr/>
        </p:nvSpPr>
        <p:spPr>
          <a:xfrm>
            <a:off x="457200" y="868680"/>
            <a:ext cx="11247120" cy="777240"/>
          </a:xfrm>
          <a:prstGeom prst="rect">
            <a:avLst/>
          </a:prstGeom>
          <a:noFill/>
          <a:ln>
            <a:noFill/>
          </a:ln>
        </p:spPr>
        <p:txBody>
          <a:bodyPr wrap="square" lIns="180000" rIns="180000" tIns="140000" bIns="60000"/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lang="es-MX" sz="3200" b="1">
                <a:solidFill>
                  <a:srgbClr val="F4EDE3"/>
                </a:solidFill>
                <a:latin typeface="Aptos"/>
              </a:rPr>
              <a:t xml:space="preserve">1. Crear el Dockerfile</a:t>
            </a:r>
          </a:p>
        </p:txBody>
      </p:sp>
      <p:sp>
        <p:nvSpPr>
          <p:cNvPr id="4" name="Texto 4"/>
          <p:cNvSpPr txBox="1"/>
          <p:nvPr/>
        </p:nvSpPr>
        <p:spPr>
          <a:xfrm>
            <a:off x="457200" y="1691640"/>
            <a:ext cx="11247120" cy="594360"/>
          </a:xfrm>
          <a:prstGeom prst="rect">
            <a:avLst/>
          </a:prstGeom>
          <a:noFill/>
          <a:ln>
            <a:noFill/>
          </a:ln>
        </p:spPr>
        <p:txBody>
          <a:bodyPr wrap="square" lIns="180000" rIns="180000" tIns="140000" bIns="60000"/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lang="es-MX" sz="1800" b="0">
                <a:solidFill>
                  <a:srgbClr val="BDB7B1"/>
                </a:solidFill>
                <a:latin typeface="Aptos"/>
              </a:rPr>
              <a:t xml:space="preserve">Dos etapas: compilar con Node y servir con Nginx.</a:t>
            </a:r>
          </a:p>
        </p:txBody>
      </p:sp>
      <p:sp>
        <p:nvSpPr>
          <p:cNvPr id="5" name="Texto 5"/>
          <p:cNvSpPr txBox="1"/>
          <p:nvPr/>
        </p:nvSpPr>
        <p:spPr>
          <a:xfrm>
            <a:off x="594360" y="2468880"/>
            <a:ext cx="5394960" cy="3520440"/>
          </a:xfrm>
          <a:prstGeom prst="rect">
            <a:avLst/>
          </a:prstGeom>
          <a:solidFill>
            <a:srgbClr val="252126"/>
          </a:solidFill>
          <a:ln>
            <a:noFill/>
          </a:ln>
        </p:spPr>
        <p:txBody>
          <a:bodyPr wrap="square" lIns="180000" rIns="180000" tIns="140000" bIns="60000"/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lang="es-MX" sz="1300" b="0">
                <a:solidFill>
                  <a:srgbClr val="F4EDE3"/>
                </a:solidFill>
                <a:latin typeface="Consolas"/>
              </a:rPr>
              <a:t xml:space="preserve">FROM node:22-alpine AS build
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lang="es-MX" sz="1300" b="0">
                <a:solidFill>
                  <a:srgbClr val="F4EDE3"/>
                </a:solidFill>
                <a:latin typeface="Consolas"/>
              </a:rPr>
              <a:t xml:space="preserve">
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lang="es-MX" sz="1300" b="0">
                <a:solidFill>
                  <a:srgbClr val="F4EDE3"/>
                </a:solidFill>
                <a:latin typeface="Consolas"/>
              </a:rPr>
              <a:t xml:space="preserve">WORKDIR /app
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lang="es-MX" sz="1300" b="0">
                <a:solidFill>
                  <a:srgbClr val="F4EDE3"/>
                </a:solidFill>
                <a:latin typeface="Consolas"/>
              </a:rPr>
              <a:t xml:space="preserve">
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lang="es-MX" sz="1300" b="0">
                <a:solidFill>
                  <a:srgbClr val="F4EDE3"/>
                </a:solidFill>
                <a:latin typeface="Consolas"/>
              </a:rPr>
              <a:t xml:space="preserve">COPY package*.json ./
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lang="es-MX" sz="1300" b="0">
                <a:solidFill>
                  <a:srgbClr val="F4EDE3"/>
                </a:solidFill>
                <a:latin typeface="Consolas"/>
              </a:rPr>
              <a:t xml:space="preserve">RUN npm ci
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lang="es-MX" sz="1300" b="0">
                <a:solidFill>
                  <a:srgbClr val="F4EDE3"/>
                </a:solidFill>
                <a:latin typeface="Consolas"/>
              </a:rPr>
              <a:t xml:space="preserve">
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lang="es-MX" sz="1300" b="0">
                <a:solidFill>
                  <a:srgbClr val="F4EDE3"/>
                </a:solidFill>
                <a:latin typeface="Consolas"/>
              </a:rPr>
              <a:t xml:space="preserve">COPY . .
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lang="es-MX" sz="1300" b="0">
                <a:solidFill>
                  <a:srgbClr val="F4EDE3"/>
                </a:solidFill>
                <a:latin typeface="Consolas"/>
              </a:rPr>
              <a:t xml:space="preserve">
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lang="es-MX" sz="1300" b="0">
                <a:solidFill>
                  <a:srgbClr val="F4EDE3"/>
                </a:solidFill>
                <a:latin typeface="Consolas"/>
              </a:rPr>
              <a:t xml:space="preserve">ARG VITE_API_BASE_URL
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lang="es-MX" sz="1300" b="0">
                <a:solidFill>
                  <a:srgbClr val="F4EDE3"/>
                </a:solidFill>
                <a:latin typeface="Consolas"/>
              </a:rPr>
              <a:t xml:space="preserve">ENV VITE_API_BASE_URL=$VITE_API_BASE_URL
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lang="es-MX" sz="1300" b="0">
                <a:solidFill>
                  <a:srgbClr val="F4EDE3"/>
                </a:solidFill>
                <a:latin typeface="Consolas"/>
              </a:rPr>
              <a:t xml:space="preserve">
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lang="es-MX" sz="1300" b="0">
                <a:solidFill>
                  <a:srgbClr val="F4EDE3"/>
                </a:solidFill>
                <a:latin typeface="Consolas"/>
              </a:rPr>
              <a:t xml:space="preserve">RUN npm run build</a:t>
            </a:r>
          </a:p>
        </p:txBody>
      </p:sp>
      <p:sp>
        <p:nvSpPr>
          <p:cNvPr id="6" name="Texto 6"/>
          <p:cNvSpPr txBox="1"/>
          <p:nvPr/>
        </p:nvSpPr>
        <p:spPr>
          <a:xfrm>
            <a:off x="6217920" y="2468880"/>
            <a:ext cx="5394960" cy="3520440"/>
          </a:xfrm>
          <a:prstGeom prst="rect">
            <a:avLst/>
          </a:prstGeom>
          <a:solidFill>
            <a:srgbClr val="352125"/>
          </a:solidFill>
          <a:ln>
            <a:noFill/>
          </a:ln>
        </p:spPr>
        <p:txBody>
          <a:bodyPr wrap="square" lIns="180000" rIns="180000" tIns="140000" bIns="60000"/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lang="es-MX" sz="1300" b="0">
                <a:solidFill>
                  <a:srgbClr val="F4EDE3"/>
                </a:solidFill>
                <a:latin typeface="Consolas"/>
              </a:rPr>
              <a:t xml:space="preserve">FROM nginx:stable-alpine
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lang="es-MX" sz="1300" b="0">
                <a:solidFill>
                  <a:srgbClr val="F4EDE3"/>
                </a:solidFill>
                <a:latin typeface="Consolas"/>
              </a:rPr>
              <a:t xml:space="preserve">
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lang="es-MX" sz="1300" b="0">
                <a:solidFill>
                  <a:srgbClr val="F4EDE3"/>
                </a:solidFill>
                <a:latin typeface="Consolas"/>
              </a:rPr>
              <a:t xml:space="preserve">COPY nginx.conf /etc/nginx/conf.d/default.conf
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lang="es-MX" sz="1300" b="0">
                <a:solidFill>
                  <a:srgbClr val="F4EDE3"/>
                </a:solidFill>
                <a:latin typeface="Consolas"/>
              </a:rPr>
              <a:t xml:space="preserve">COPY --from=build /app/dist /usr/share/nginx/html
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lang="es-MX" sz="1300" b="0">
                <a:solidFill>
                  <a:srgbClr val="F4EDE3"/>
                </a:solidFill>
                <a:latin typeface="Consolas"/>
              </a:rPr>
              <a:t xml:space="preserve">
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lang="es-MX" sz="1300" b="0">
                <a:solidFill>
                  <a:srgbClr val="F4EDE3"/>
                </a:solidFill>
                <a:latin typeface="Consolas"/>
              </a:rPr>
              <a:t xml:space="preserve">EXPOSE 80
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lang="es-MX" sz="1300" b="0">
                <a:solidFill>
                  <a:srgbClr val="F4EDE3"/>
                </a:solidFill>
                <a:latin typeface="Consolas"/>
              </a:rPr>
              <a:t xml:space="preserve">
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lang="es-MX" sz="1300" b="0">
                <a:solidFill>
                  <a:srgbClr val="F4EDE3"/>
                </a:solidFill>
                <a:latin typeface="Consolas"/>
              </a:rPr>
              <a:t xml:space="preserve">CMD ["nginx", "-g", "daemon off;"]</a:t>
            </a:r>
          </a:p>
        </p:txBody>
      </p:sp>
      <p:sp>
        <p:nvSpPr>
          <p:cNvPr id="7" name="Texto 7"/>
          <p:cNvSpPr txBox="1"/>
          <p:nvPr/>
        </p:nvSpPr>
        <p:spPr>
          <a:xfrm>
            <a:off x="457200" y="6080760"/>
            <a:ext cx="11247120" cy="594360"/>
          </a:xfrm>
          <a:prstGeom prst="rect">
            <a:avLst/>
          </a:prstGeom>
          <a:noFill/>
          <a:ln>
            <a:noFill/>
          </a:ln>
        </p:spPr>
        <p:txBody>
          <a:bodyPr wrap="square" lIns="180000" rIns="180000" tIns="140000" bIns="60000"/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lang="es-MX" sz="1300" b="0">
                <a:solidFill>
                  <a:srgbClr val="C8A97E"/>
                </a:solidFill>
                <a:latin typeface="Aptos"/>
              </a:rPr>
              <a:t xml:space="preserve">npm ci instala desde el lockfile. La imagen final recibe los archivos compilados de /app/dist.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0F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 2"/>
          <p:cNvSpPr txBox="1"/>
          <p:nvPr/>
        </p:nvSpPr>
        <p:spPr>
          <a:xfrm>
            <a:off x="457200" y="228600"/>
            <a:ext cx="11247120" cy="411480"/>
          </a:xfrm>
          <a:prstGeom prst="rect">
            <a:avLst/>
          </a:prstGeom>
          <a:noFill/>
          <a:ln>
            <a:noFill/>
          </a:ln>
        </p:spPr>
        <p:txBody>
          <a:bodyPr wrap="square" lIns="180000" rIns="180000" tIns="140000" bIns="60000"/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lang="es-MX" sz="1200" b="0">
                <a:solidFill>
                  <a:srgbClr val="C8A97E"/>
                </a:solidFill>
                <a:latin typeface="Aptos"/>
              </a:rPr>
              <a:t xml:space="preserve">EOT  /  GIT + DOCKER                                            6 / 10</a:t>
            </a:r>
          </a:p>
        </p:txBody>
      </p:sp>
      <p:sp>
        <p:nvSpPr>
          <p:cNvPr id="3" name="Texto 3"/>
          <p:cNvSpPr txBox="1"/>
          <p:nvPr/>
        </p:nvSpPr>
        <p:spPr>
          <a:xfrm>
            <a:off x="457200" y="868680"/>
            <a:ext cx="11247120" cy="777240"/>
          </a:xfrm>
          <a:prstGeom prst="rect">
            <a:avLst/>
          </a:prstGeom>
          <a:noFill/>
          <a:ln>
            <a:noFill/>
          </a:ln>
        </p:spPr>
        <p:txBody>
          <a:bodyPr wrap="square" lIns="180000" rIns="180000" tIns="140000" bIns="60000"/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lang="es-MX" sz="3200" b="1">
                <a:solidFill>
                  <a:srgbClr val="F4EDE3"/>
                </a:solidFill>
                <a:latin typeface="Aptos"/>
              </a:rPr>
              <a:t xml:space="preserve">2. Configurar Nginx y las exclusiones</a:t>
            </a:r>
          </a:p>
        </p:txBody>
      </p:sp>
      <p:sp>
        <p:nvSpPr>
          <p:cNvPr id="4" name="Texto 4"/>
          <p:cNvSpPr txBox="1"/>
          <p:nvPr/>
        </p:nvSpPr>
        <p:spPr>
          <a:xfrm>
            <a:off x="457200" y="1691640"/>
            <a:ext cx="11247120" cy="594360"/>
          </a:xfrm>
          <a:prstGeom prst="rect">
            <a:avLst/>
          </a:prstGeom>
          <a:noFill/>
          <a:ln>
            <a:noFill/>
          </a:ln>
        </p:spPr>
        <p:txBody>
          <a:bodyPr wrap="square" lIns="180000" rIns="180000" tIns="140000" bIns="60000"/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lang="es-MX" sz="1800" b="0">
                <a:solidFill>
                  <a:srgbClr val="BDB7B1"/>
                </a:solidFill>
                <a:latin typeface="Aptos"/>
              </a:rPr>
              <a:t xml:space="preserve">nginx.conf sirve la PWA; .dockerignore limita el contexto de construcción.</a:t>
            </a:r>
          </a:p>
        </p:txBody>
      </p:sp>
      <p:sp>
        <p:nvSpPr>
          <p:cNvPr id="5" name="Texto 5"/>
          <p:cNvSpPr txBox="1"/>
          <p:nvPr/>
        </p:nvSpPr>
        <p:spPr>
          <a:xfrm>
            <a:off x="594360" y="2468880"/>
            <a:ext cx="5394960" cy="3520440"/>
          </a:xfrm>
          <a:prstGeom prst="rect">
            <a:avLst/>
          </a:prstGeom>
          <a:solidFill>
            <a:srgbClr val="252126"/>
          </a:solidFill>
          <a:ln>
            <a:noFill/>
          </a:ln>
        </p:spPr>
        <p:txBody>
          <a:bodyPr wrap="square" lIns="180000" rIns="180000" tIns="140000" bIns="60000"/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lang="es-MX" sz="1200" b="0">
                <a:solidFill>
                  <a:srgbClr val="F4EDE3"/>
                </a:solidFill>
                <a:latin typeface="Consolas"/>
              </a:rPr>
              <a:t xml:space="preserve">server {
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lang="es-MX" sz="1200" b="0">
                <a:solidFill>
                  <a:srgbClr val="F4EDE3"/>
                </a:solidFill>
                <a:latin typeface="Consolas"/>
              </a:rPr>
              <a:t xml:space="preserve">    listen 80;
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lang="es-MX" sz="1200" b="0">
                <a:solidFill>
                  <a:srgbClr val="F4EDE3"/>
                </a:solidFill>
                <a:latin typeface="Consolas"/>
              </a:rPr>
              <a:t xml:space="preserve">    server_name _;
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lang="es-MX" sz="1200" b="0">
                <a:solidFill>
                  <a:srgbClr val="F4EDE3"/>
                </a:solidFill>
                <a:latin typeface="Consolas"/>
              </a:rPr>
              <a:t xml:space="preserve">
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lang="es-MX" sz="1200" b="0">
                <a:solidFill>
                  <a:srgbClr val="F4EDE3"/>
                </a:solidFill>
                <a:latin typeface="Consolas"/>
              </a:rPr>
              <a:t xml:space="preserve">    root /usr/share/nginx/html;
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lang="es-MX" sz="1200" b="0">
                <a:solidFill>
                  <a:srgbClr val="F4EDE3"/>
                </a:solidFill>
                <a:latin typeface="Consolas"/>
              </a:rPr>
              <a:t xml:space="preserve">    index index.html;
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lang="es-MX" sz="1200" b="0">
                <a:solidFill>
                  <a:srgbClr val="F4EDE3"/>
                </a:solidFill>
                <a:latin typeface="Consolas"/>
              </a:rPr>
              <a:t xml:space="preserve">
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lang="es-MX" sz="1200" b="0">
                <a:solidFill>
                  <a:srgbClr val="F4EDE3"/>
                </a:solidFill>
                <a:latin typeface="Consolas"/>
              </a:rPr>
              <a:t xml:space="preserve">    location / {
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lang="es-MX" sz="1200" b="0">
                <a:solidFill>
                  <a:srgbClr val="F4EDE3"/>
                </a:solidFill>
                <a:latin typeface="Consolas"/>
              </a:rPr>
              <a:t xml:space="preserve">        try_files $uri $uri/ /index.html;
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lang="es-MX" sz="1200" b="0">
                <a:solidFill>
                  <a:srgbClr val="F4EDE3"/>
                </a:solidFill>
                <a:latin typeface="Consolas"/>
              </a:rPr>
              <a:t xml:space="preserve">    }
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lang="es-MX" sz="1200" b="0">
                <a:solidFill>
                  <a:srgbClr val="F4EDE3"/>
                </a:solidFill>
                <a:latin typeface="Consolas"/>
              </a:rPr>
              <a:t xml:space="preserve">
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lang="es-MX" sz="1200" b="0">
                <a:solidFill>
                  <a:srgbClr val="F4EDE3"/>
                </a:solidFill>
                <a:latin typeface="Consolas"/>
              </a:rPr>
              <a:t xml:space="preserve">    location = /sw.js {
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lang="es-MX" sz="1200" b="0">
                <a:solidFill>
                  <a:srgbClr val="F4EDE3"/>
                </a:solidFill>
                <a:latin typeface="Consolas"/>
              </a:rPr>
              <a:t xml:space="preserve">        add_header Cache-Control "no-cache";
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lang="es-MX" sz="1200" b="0">
                <a:solidFill>
                  <a:srgbClr val="F4EDE3"/>
                </a:solidFill>
                <a:latin typeface="Consolas"/>
              </a:rPr>
              <a:t xml:space="preserve">    }
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lang="es-MX" sz="1200" b="0">
                <a:solidFill>
                  <a:srgbClr val="F4EDE3"/>
                </a:solidFill>
                <a:latin typeface="Consolas"/>
              </a:rPr>
              <a:t xml:space="preserve">}</a:t>
            </a:r>
          </a:p>
        </p:txBody>
      </p:sp>
      <p:sp>
        <p:nvSpPr>
          <p:cNvPr id="6" name="Texto 6"/>
          <p:cNvSpPr txBox="1"/>
          <p:nvPr/>
        </p:nvSpPr>
        <p:spPr>
          <a:xfrm>
            <a:off x="6217920" y="2468880"/>
            <a:ext cx="5394960" cy="3520440"/>
          </a:xfrm>
          <a:prstGeom prst="rect">
            <a:avLst/>
          </a:prstGeom>
          <a:solidFill>
            <a:srgbClr val="352125"/>
          </a:solidFill>
          <a:ln>
            <a:noFill/>
          </a:ln>
        </p:spPr>
        <p:txBody>
          <a:bodyPr wrap="square" lIns="180000" rIns="180000" tIns="140000" bIns="60000"/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lang="es-MX" sz="1200" b="0">
                <a:solidFill>
                  <a:srgbClr val="F4EDE3"/>
                </a:solidFill>
                <a:latin typeface="Consolas"/>
              </a:rPr>
              <a:t xml:space="preserve">node_modules
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lang="es-MX" sz="1200" b="0">
                <a:solidFill>
                  <a:srgbClr val="F4EDE3"/>
                </a:solidFill>
                <a:latin typeface="Consolas"/>
              </a:rPr>
              <a:t xml:space="preserve">dist
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lang="es-MX" sz="1200" b="0">
                <a:solidFill>
                  <a:srgbClr val="F4EDE3"/>
                </a:solidFill>
                <a:latin typeface="Consolas"/>
              </a:rPr>
              <a:t xml:space="preserve">.git
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lang="es-MX" sz="1200" b="0">
                <a:solidFill>
                  <a:srgbClr val="F4EDE3"/>
                </a:solidFill>
                <a:latin typeface="Consolas"/>
              </a:rPr>
              <a:t xml:space="preserve">.env
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lang="es-MX" sz="1200" b="0">
                <a:solidFill>
                  <a:srgbClr val="F4EDE3"/>
                </a:solidFill>
                <a:latin typeface="Consolas"/>
              </a:rPr>
              <a:t xml:space="preserve">.env.*
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lang="es-MX" sz="1200" b="0">
                <a:solidFill>
                  <a:srgbClr val="F4EDE3"/>
                </a:solidFill>
                <a:latin typeface="Consolas"/>
              </a:rPr>
              <a:t xml:space="preserve">!.env.example
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lang="es-MX" sz="1200" b="0">
                <a:solidFill>
                  <a:srgbClr val="F4EDE3"/>
                </a:solidFill>
                <a:latin typeface="Consolas"/>
              </a:rPr>
              <a:t xml:space="preserve">docs
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lang="es-MX" sz="1200" b="0">
                <a:solidFill>
                  <a:srgbClr val="F4EDE3"/>
                </a:solidFill>
                <a:latin typeface="Consolas"/>
              </a:rPr>
              <a:t xml:space="preserve">docs-ANTIGUO
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lang="es-MX" sz="1200" b="0">
                <a:solidFill>
                  <a:srgbClr val="F4EDE3"/>
                </a:solidFill>
                <a:latin typeface="Consolas"/>
              </a:rPr>
              <a:t xml:space="preserve">npm-debug.log*</a:t>
            </a:r>
          </a:p>
        </p:txBody>
      </p:sp>
      <p:sp>
        <p:nvSpPr>
          <p:cNvPr id="7" name="Texto 7"/>
          <p:cNvSpPr txBox="1"/>
          <p:nvPr/>
        </p:nvSpPr>
        <p:spPr>
          <a:xfrm>
            <a:off x="457200" y="6080760"/>
            <a:ext cx="11247120" cy="594360"/>
          </a:xfrm>
          <a:prstGeom prst="rect">
            <a:avLst/>
          </a:prstGeom>
          <a:noFill/>
          <a:ln>
            <a:noFill/>
          </a:ln>
        </p:spPr>
        <p:txBody>
          <a:bodyPr wrap="square" lIns="180000" rIns="180000" tIns="140000" bIns="60000"/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lang="es-MX" sz="1300" b="0">
                <a:solidFill>
                  <a:srgbClr val="C8A97E"/>
                </a:solidFill>
                <a:latin typeface="Aptos"/>
              </a:rPr>
              <a:t xml:space="preserve">Izquierda: nginx.conf. Derecha: .dockerignore. Se excluyen dependencias, Git, entornos y evidencias.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0F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 2"/>
          <p:cNvSpPr txBox="1"/>
          <p:nvPr/>
        </p:nvSpPr>
        <p:spPr>
          <a:xfrm>
            <a:off x="457200" y="228600"/>
            <a:ext cx="11247120" cy="411480"/>
          </a:xfrm>
          <a:prstGeom prst="rect">
            <a:avLst/>
          </a:prstGeom>
          <a:noFill/>
          <a:ln>
            <a:noFill/>
          </a:ln>
        </p:spPr>
        <p:txBody>
          <a:bodyPr wrap="square" lIns="180000" rIns="180000" tIns="140000" bIns="60000"/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lang="es-MX" sz="1200" b="0">
                <a:solidFill>
                  <a:srgbClr val="C8A97E"/>
                </a:solidFill>
                <a:latin typeface="Aptos"/>
              </a:rPr>
              <a:t xml:space="preserve">EOT  /  GIT + DOCKER                                            7 / 10</a:t>
            </a:r>
          </a:p>
        </p:txBody>
      </p:sp>
      <p:sp>
        <p:nvSpPr>
          <p:cNvPr id="3" name="Texto 3"/>
          <p:cNvSpPr txBox="1"/>
          <p:nvPr/>
        </p:nvSpPr>
        <p:spPr>
          <a:xfrm>
            <a:off x="457200" y="868680"/>
            <a:ext cx="11247120" cy="777240"/>
          </a:xfrm>
          <a:prstGeom prst="rect">
            <a:avLst/>
          </a:prstGeom>
          <a:noFill/>
          <a:ln>
            <a:noFill/>
          </a:ln>
        </p:spPr>
        <p:txBody>
          <a:bodyPr wrap="square" lIns="180000" rIns="180000" tIns="140000" bIns="60000"/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lang="es-MX" sz="3200" b="1">
                <a:solidFill>
                  <a:srgbClr val="F4EDE3"/>
                </a:solidFill>
                <a:latin typeface="Aptos"/>
              </a:rPr>
              <a:t xml:space="preserve">3. Preparar y construir la imagen</a:t>
            </a:r>
          </a:p>
        </p:txBody>
      </p:sp>
      <p:sp>
        <p:nvSpPr>
          <p:cNvPr id="4" name="Texto 4"/>
          <p:cNvSpPr txBox="1"/>
          <p:nvPr/>
        </p:nvSpPr>
        <p:spPr>
          <a:xfrm>
            <a:off x="457200" y="1691640"/>
            <a:ext cx="11247120" cy="594360"/>
          </a:xfrm>
          <a:prstGeom prst="rect">
            <a:avLst/>
          </a:prstGeom>
          <a:noFill/>
          <a:ln>
            <a:noFill/>
          </a:ln>
        </p:spPr>
        <p:txBody>
          <a:bodyPr wrap="square" lIns="180000" rIns="180000" tIns="140000" bIns="60000"/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lang="es-MX" sz="1800" b="0">
                <a:solidFill>
                  <a:srgbClr val="BDB7B1"/>
                </a:solidFill>
                <a:latin typeface="Aptos"/>
              </a:rPr>
              <a:t xml:space="preserve">Ejecutar desde la raíz del proyecto con Docker Desktop iniciado.</a:t>
            </a:r>
          </a:p>
        </p:txBody>
      </p:sp>
      <p:sp>
        <p:nvSpPr>
          <p:cNvPr id="5" name="Texto 5"/>
          <p:cNvSpPr txBox="1"/>
          <p:nvPr/>
        </p:nvSpPr>
        <p:spPr>
          <a:xfrm>
            <a:off x="594360" y="2468880"/>
            <a:ext cx="5394960" cy="3520440"/>
          </a:xfrm>
          <a:prstGeom prst="rect">
            <a:avLst/>
          </a:prstGeom>
          <a:solidFill>
            <a:srgbClr val="252126"/>
          </a:solidFill>
          <a:ln>
            <a:noFill/>
          </a:ln>
        </p:spPr>
        <p:txBody>
          <a:bodyPr wrap="square" lIns="180000" rIns="180000" tIns="140000" bIns="60000"/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lang="es-MX" sz="2100" b="0">
                <a:solidFill>
                  <a:srgbClr val="F4EDE3"/>
                </a:solidFill>
                <a:latin typeface="Aptos"/>
              </a:rPr>
              <a:t xml:space="preserve">PREPARACIÓN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lang="es-MX" sz="2100" b="0">
                <a:solidFill>
                  <a:srgbClr val="F4EDE3"/>
                </a:solidFill>
                <a:latin typeface="Aptos"/>
              </a:rPr>
              <a:t xml:space="preserve">1. Evitar importaciones duplicadas en Vite.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lang="es-MX" sz="2100" b="0">
                <a:solidFill>
                  <a:srgbClr val="F4EDE3"/>
                </a:solidFill>
                <a:latin typeface="Aptos"/>
              </a:rPr>
              <a:t xml:space="preserve">2. Verificar que la PWA compile.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lang="es-MX" sz="2100" b="0">
                <a:solidFill>
                  <a:srgbClr val="F4EDE3"/>
                </a:solidFill>
                <a:latin typeface="Aptos"/>
              </a:rPr>
              <a:t xml:space="preserve">3. Comprobar que Docker esté disponible.</a:t>
            </a:r>
          </a:p>
        </p:txBody>
      </p:sp>
      <p:sp>
        <p:nvSpPr>
          <p:cNvPr id="6" name="Texto 6"/>
          <p:cNvSpPr txBox="1"/>
          <p:nvPr/>
        </p:nvSpPr>
        <p:spPr>
          <a:xfrm>
            <a:off x="6217920" y="2468880"/>
            <a:ext cx="5394960" cy="3520440"/>
          </a:xfrm>
          <a:prstGeom prst="rect">
            <a:avLst/>
          </a:prstGeom>
          <a:solidFill>
            <a:srgbClr val="352125"/>
          </a:solidFill>
          <a:ln>
            <a:noFill/>
          </a:ln>
        </p:spPr>
        <p:txBody>
          <a:bodyPr wrap="square" lIns="180000" rIns="180000" tIns="140000" bIns="60000"/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lang="es-MX" sz="1700" b="0">
                <a:solidFill>
                  <a:srgbClr val="F4EDE3"/>
                </a:solidFill>
                <a:latin typeface="Consolas"/>
              </a:rPr>
              <a:t xml:space="preserve">npm ci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lang="es-MX" sz="1700" b="0">
                <a:solidFill>
                  <a:srgbClr val="F4EDE3"/>
                </a:solidFill>
                <a:latin typeface="Consolas"/>
              </a:rPr>
              <a:t xml:space="preserve">npm run build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lang="es-MX" sz="1700" b="0">
                <a:solidFill>
                  <a:srgbClr val="F4EDE3"/>
                </a:solidFill>
                <a:latin typeface="Consolas"/>
              </a:rPr>
              <a:t xml:space="preserve">docker info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lang="es-MX" sz="1700" b="0">
                <a:solidFill>
                  <a:srgbClr val="F4EDE3"/>
                </a:solidFill>
                <a:latin typeface="Consolas"/>
              </a:rPr>
              <a:t xml:space="preserve"/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lang="es-MX" sz="1700" b="0">
                <a:solidFill>
                  <a:srgbClr val="F4EDE3"/>
                </a:solidFill>
                <a:latin typeface="Consolas"/>
              </a:rPr>
              <a:t xml:space="preserve"># PowerShell: una sola línea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lang="es-MX" sz="1700" b="0">
                <a:solidFill>
                  <a:srgbClr val="F4EDE3"/>
                </a:solidFill>
                <a:latin typeface="Consolas"/>
              </a:rPr>
              <a:t xml:space="preserve">docker build --build-arg VITE_API_BASE_URL=http://localhost:8080/api/v1 -t eot-pwa:1.0 .</a:t>
            </a:r>
          </a:p>
        </p:txBody>
      </p:sp>
      <p:sp>
        <p:nvSpPr>
          <p:cNvPr id="7" name="Texto 7"/>
          <p:cNvSpPr txBox="1"/>
          <p:nvPr/>
        </p:nvSpPr>
        <p:spPr>
          <a:xfrm>
            <a:off x="457200" y="6080760"/>
            <a:ext cx="11247120" cy="594360"/>
          </a:xfrm>
          <a:prstGeom prst="rect">
            <a:avLst/>
          </a:prstGeom>
          <a:noFill/>
          <a:ln>
            <a:noFill/>
          </a:ln>
        </p:spPr>
        <p:txBody>
          <a:bodyPr wrap="square" lIns="180000" rIns="180000" tIns="140000" bIns="60000"/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lang="es-MX" sz="1300" b="0">
                <a:solidFill>
                  <a:srgbClr val="C8A97E"/>
                </a:solidFill>
                <a:latin typeface="Aptos"/>
              </a:rPr>
              <a:t xml:space="preserve">La URL de la API queda incorporada al compilar. Si cambia, se debe reconstruir la imagen.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0F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 2"/>
          <p:cNvSpPr txBox="1"/>
          <p:nvPr/>
        </p:nvSpPr>
        <p:spPr>
          <a:xfrm>
            <a:off x="457200" y="228600"/>
            <a:ext cx="11247120" cy="411480"/>
          </a:xfrm>
          <a:prstGeom prst="rect">
            <a:avLst/>
          </a:prstGeom>
          <a:noFill/>
          <a:ln>
            <a:noFill/>
          </a:ln>
        </p:spPr>
        <p:txBody>
          <a:bodyPr wrap="square" lIns="180000" rIns="180000" tIns="140000" bIns="60000"/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lang="es-MX" sz="1200" b="0">
                <a:solidFill>
                  <a:srgbClr val="C8A97E"/>
                </a:solidFill>
                <a:latin typeface="Aptos"/>
              </a:rPr>
              <a:t xml:space="preserve">EOT  /  GIT + DOCKER                                            8 / 10</a:t>
            </a:r>
          </a:p>
        </p:txBody>
      </p:sp>
      <p:sp>
        <p:nvSpPr>
          <p:cNvPr id="3" name="Texto 3"/>
          <p:cNvSpPr txBox="1"/>
          <p:nvPr/>
        </p:nvSpPr>
        <p:spPr>
          <a:xfrm>
            <a:off x="457200" y="868680"/>
            <a:ext cx="11247120" cy="777240"/>
          </a:xfrm>
          <a:prstGeom prst="rect">
            <a:avLst/>
          </a:prstGeom>
          <a:noFill/>
          <a:ln>
            <a:noFill/>
          </a:ln>
        </p:spPr>
        <p:txBody>
          <a:bodyPr wrap="square" lIns="180000" rIns="180000" tIns="140000" bIns="60000"/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lang="es-MX" sz="3200" b="1">
                <a:solidFill>
                  <a:srgbClr val="F4EDE3"/>
                </a:solidFill>
                <a:latin typeface="Aptos"/>
              </a:rPr>
              <a:t xml:space="preserve">4. Ejecutar y probar el contenedor</a:t>
            </a:r>
          </a:p>
        </p:txBody>
      </p:sp>
      <p:sp>
        <p:nvSpPr>
          <p:cNvPr id="4" name="Texto 4"/>
          <p:cNvSpPr txBox="1"/>
          <p:nvPr/>
        </p:nvSpPr>
        <p:spPr>
          <a:xfrm>
            <a:off x="457200" y="1691640"/>
            <a:ext cx="11247120" cy="594360"/>
          </a:xfrm>
          <a:prstGeom prst="rect">
            <a:avLst/>
          </a:prstGeom>
          <a:noFill/>
          <a:ln>
            <a:noFill/>
          </a:ln>
        </p:spPr>
        <p:txBody>
          <a:bodyPr wrap="square" lIns="180000" rIns="180000" tIns="140000" bIns="60000"/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lang="es-MX" sz="1800" b="0">
                <a:solidFill>
                  <a:srgbClr val="BDB7B1"/>
                </a:solidFill>
                <a:latin typeface="Aptos"/>
              </a:rPr>
              <a:t xml:space="preserve">Iniciar Spring Boot y luego ejecutar el frontend.</a:t>
            </a:r>
          </a:p>
        </p:txBody>
      </p:sp>
      <p:sp>
        <p:nvSpPr>
          <p:cNvPr id="5" name="Texto 5"/>
          <p:cNvSpPr txBox="1"/>
          <p:nvPr/>
        </p:nvSpPr>
        <p:spPr>
          <a:xfrm>
            <a:off x="594360" y="2468880"/>
            <a:ext cx="5394960" cy="3520440"/>
          </a:xfrm>
          <a:prstGeom prst="rect">
            <a:avLst/>
          </a:prstGeom>
          <a:solidFill>
            <a:srgbClr val="252126"/>
          </a:solidFill>
          <a:ln>
            <a:noFill/>
          </a:ln>
        </p:spPr>
        <p:txBody>
          <a:bodyPr wrap="square" lIns="180000" rIns="180000" tIns="140000" bIns="60000"/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lang="es-MX" sz="1700" b="0">
                <a:solidFill>
                  <a:srgbClr val="F4EDE3"/>
                </a:solidFill>
                <a:latin typeface="Consolas"/>
              </a:rPr>
              <a:t xml:space="preserve">docker run -d --name eot-pwa -p 3000:80 eot-pwa:1.0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lang="es-MX" sz="1700" b="0">
                <a:solidFill>
                  <a:srgbClr val="F4EDE3"/>
                </a:solidFill>
                <a:latin typeface="Consolas"/>
              </a:rPr>
              <a:t xml:space="preserve"/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lang="es-MX" sz="1700" b="0">
                <a:solidFill>
                  <a:srgbClr val="F4EDE3"/>
                </a:solidFill>
                <a:latin typeface="Consolas"/>
              </a:rPr>
              <a:t xml:space="preserve">docker ps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lang="es-MX" sz="1700" b="0">
                <a:solidFill>
                  <a:srgbClr val="F4EDE3"/>
                </a:solidFill>
                <a:latin typeface="Consolas"/>
              </a:rPr>
              <a:t xml:space="preserve">docker logs eot-pwa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lang="es-MX" sz="1700" b="0">
                <a:solidFill>
                  <a:srgbClr val="F4EDE3"/>
                </a:solidFill>
                <a:latin typeface="Consolas"/>
              </a:rPr>
              <a:t xml:space="preserve"/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lang="es-MX" sz="1700" b="0">
                <a:solidFill>
                  <a:srgbClr val="F4EDE3"/>
                </a:solidFill>
                <a:latin typeface="Consolas"/>
              </a:rPr>
              <a:t xml:space="preserve"># Detener y volver a iniciar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lang="es-MX" sz="1700" b="0">
                <a:solidFill>
                  <a:srgbClr val="F4EDE3"/>
                </a:solidFill>
                <a:latin typeface="Consolas"/>
              </a:rPr>
              <a:t xml:space="preserve">docker stop eot-pwa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lang="es-MX" sz="1700" b="0">
                <a:solidFill>
                  <a:srgbClr val="F4EDE3"/>
                </a:solidFill>
                <a:latin typeface="Consolas"/>
              </a:rPr>
              <a:t xml:space="preserve">docker start eot-pwa</a:t>
            </a:r>
          </a:p>
        </p:txBody>
      </p:sp>
      <p:sp>
        <p:nvSpPr>
          <p:cNvPr id="6" name="Texto 6"/>
          <p:cNvSpPr txBox="1"/>
          <p:nvPr/>
        </p:nvSpPr>
        <p:spPr>
          <a:xfrm>
            <a:off x="6217920" y="2468880"/>
            <a:ext cx="5394960" cy="3520440"/>
          </a:xfrm>
          <a:prstGeom prst="rect">
            <a:avLst/>
          </a:prstGeom>
          <a:solidFill>
            <a:srgbClr val="352125"/>
          </a:solidFill>
          <a:ln>
            <a:noFill/>
          </a:ln>
        </p:spPr>
        <p:txBody>
          <a:bodyPr wrap="square" lIns="180000" rIns="180000" tIns="140000" bIns="60000"/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lang="es-MX" sz="2100" b="0">
                <a:solidFill>
                  <a:srgbClr val="F4EDE3"/>
                </a:solidFill>
                <a:latin typeface="Aptos"/>
              </a:rPr>
              <a:t xml:space="preserve">COMPROBAR EN EL NAVEGADOR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lang="es-MX" sz="2100" b="0">
                <a:solidFill>
                  <a:srgbClr val="F4EDE3"/>
                </a:solidFill>
                <a:latin typeface="Aptos"/>
              </a:rPr>
              <a:t xml:space="preserve">Abrir http://localhost:3000.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lang="es-MX" sz="2100" b="0">
                <a:solidFill>
                  <a:srgbClr val="F4EDE3"/>
                </a:solidFill>
                <a:latin typeface="Aptos"/>
              </a:rPr>
              <a:t xml:space="preserve">Navegar y probar una función de la API.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lang="es-MX" sz="2100" b="0">
                <a:solidFill>
                  <a:srgbClr val="F4EDE3"/>
                </a:solidFill>
                <a:latin typeface="Aptos"/>
              </a:rPr>
              <a:t xml:space="preserve">En DevTools → Network, revisar peticiones a 8080 y sus respuestas.</a:t>
            </a:r>
          </a:p>
        </p:txBody>
      </p:sp>
      <p:sp>
        <p:nvSpPr>
          <p:cNvPr id="7" name="Texto 7"/>
          <p:cNvSpPr txBox="1"/>
          <p:nvPr/>
        </p:nvSpPr>
        <p:spPr>
          <a:xfrm>
            <a:off x="457200" y="6080760"/>
            <a:ext cx="11247120" cy="594360"/>
          </a:xfrm>
          <a:prstGeom prst="rect">
            <a:avLst/>
          </a:prstGeom>
          <a:noFill/>
          <a:ln>
            <a:noFill/>
          </a:ln>
        </p:spPr>
        <p:txBody>
          <a:bodyPr wrap="square" lIns="180000" rIns="180000" tIns="140000" bIns="60000"/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lang="es-MX" sz="1300" b="0">
                <a:solidFill>
                  <a:srgbClr val="C8A97E"/>
                </a:solidFill>
                <a:latin typeface="Aptos"/>
              </a:rPr>
              <a:t xml:space="preserve">Son pasos de comprobación: adjuntar capturas reales de los resultados obtenidos.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0F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 2"/>
          <p:cNvSpPr txBox="1"/>
          <p:nvPr/>
        </p:nvSpPr>
        <p:spPr>
          <a:xfrm>
            <a:off x="457200" y="228600"/>
            <a:ext cx="11247120" cy="411480"/>
          </a:xfrm>
          <a:prstGeom prst="rect">
            <a:avLst/>
          </a:prstGeom>
          <a:noFill/>
          <a:ln>
            <a:noFill/>
          </a:ln>
        </p:spPr>
        <p:txBody>
          <a:bodyPr wrap="square" lIns="180000" rIns="180000" tIns="140000" bIns="60000"/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lang="es-MX" sz="1200" b="0">
                <a:solidFill>
                  <a:srgbClr val="C8A97E"/>
                </a:solidFill>
                <a:latin typeface="Aptos"/>
              </a:rPr>
              <a:t xml:space="preserve">EOT  /  GIT + DOCKER                                            9 / 10</a:t>
            </a:r>
          </a:p>
        </p:txBody>
      </p:sp>
      <p:sp>
        <p:nvSpPr>
          <p:cNvPr id="3" name="Texto 3"/>
          <p:cNvSpPr txBox="1"/>
          <p:nvPr/>
        </p:nvSpPr>
        <p:spPr>
          <a:xfrm>
            <a:off x="457200" y="868680"/>
            <a:ext cx="11247120" cy="777240"/>
          </a:xfrm>
          <a:prstGeom prst="rect">
            <a:avLst/>
          </a:prstGeom>
          <a:noFill/>
          <a:ln>
            <a:noFill/>
          </a:ln>
        </p:spPr>
        <p:txBody>
          <a:bodyPr wrap="square" lIns="180000" rIns="180000" tIns="140000" bIns="60000"/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lang="es-MX" sz="3200" b="1">
                <a:solidFill>
                  <a:srgbClr val="F4EDE3"/>
                </a:solidFill>
                <a:latin typeface="Aptos"/>
              </a:rPr>
              <a:t xml:space="preserve">5. Git/GitHub y evidencias</a:t>
            </a:r>
          </a:p>
        </p:txBody>
      </p:sp>
      <p:sp>
        <p:nvSpPr>
          <p:cNvPr id="4" name="Texto 4"/>
          <p:cNvSpPr txBox="1"/>
          <p:nvPr/>
        </p:nvSpPr>
        <p:spPr>
          <a:xfrm>
            <a:off x="457200" y="1691640"/>
            <a:ext cx="11247120" cy="594360"/>
          </a:xfrm>
          <a:prstGeom prst="rect">
            <a:avLst/>
          </a:prstGeom>
          <a:noFill/>
          <a:ln>
            <a:noFill/>
          </a:ln>
        </p:spPr>
        <p:txBody>
          <a:bodyPr wrap="square" lIns="180000" rIns="180000" tIns="140000" bIns="60000"/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lang="es-MX" sz="1800" b="0">
                <a:solidFill>
                  <a:srgbClr val="BDB7B1"/>
                </a:solidFill>
                <a:latin typeface="Aptos"/>
              </a:rPr>
              <a:t xml:space="preserve">Registrar aportaciones y revisar los cambios en equipo.</a:t>
            </a:r>
          </a:p>
        </p:txBody>
      </p:sp>
      <p:sp>
        <p:nvSpPr>
          <p:cNvPr id="5" name="Texto 5"/>
          <p:cNvSpPr txBox="1"/>
          <p:nvPr/>
        </p:nvSpPr>
        <p:spPr>
          <a:xfrm>
            <a:off x="594360" y="2468880"/>
            <a:ext cx="5394960" cy="3520440"/>
          </a:xfrm>
          <a:prstGeom prst="rect">
            <a:avLst/>
          </a:prstGeom>
          <a:solidFill>
            <a:srgbClr val="252126"/>
          </a:solidFill>
          <a:ln>
            <a:noFill/>
          </a:ln>
        </p:spPr>
        <p:txBody>
          <a:bodyPr wrap="square" lIns="180000" rIns="180000" tIns="140000" bIns="60000"/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lang="es-MX" sz="2100" b="0">
                <a:solidFill>
                  <a:srgbClr val="F4EDE3"/>
                </a:solidFill>
                <a:latin typeface="Aptos"/>
              </a:rPr>
              <a:t xml:space="preserve">CONTROL DE VERSIONES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lang="es-MX" sz="2100" b="0">
                <a:solidFill>
                  <a:srgbClr val="F4EDE3"/>
                </a:solidFill>
                <a:latin typeface="Aptos"/>
              </a:rPr>
              <a:t xml:space="preserve">Crear una rama para la tarea.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lang="es-MX" sz="2100" b="0">
                <a:solidFill>
                  <a:srgbClr val="F4EDE3"/>
                </a:solidFill>
                <a:latin typeface="Aptos"/>
              </a:rPr>
              <a:t xml:space="preserve">Hacer commits de cada aportación.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lang="es-MX" sz="2100" b="0">
                <a:solidFill>
                  <a:srgbClr val="F4EDE3"/>
                </a:solidFill>
                <a:latin typeface="Aptos"/>
              </a:rPr>
              <a:t xml:space="preserve">Subir la rama a GitHub.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lang="es-MX" sz="2100" b="0">
                <a:solidFill>
                  <a:srgbClr val="F4EDE3"/>
                </a:solidFill>
                <a:latin typeface="Aptos"/>
              </a:rPr>
              <a:t xml:space="preserve">Abrir y revisar un pull request.</a:t>
            </a:r>
          </a:p>
        </p:txBody>
      </p:sp>
      <p:sp>
        <p:nvSpPr>
          <p:cNvPr id="6" name="Texto 6"/>
          <p:cNvSpPr txBox="1"/>
          <p:nvPr/>
        </p:nvSpPr>
        <p:spPr>
          <a:xfrm>
            <a:off x="6217920" y="2468880"/>
            <a:ext cx="5394960" cy="3520440"/>
          </a:xfrm>
          <a:prstGeom prst="rect">
            <a:avLst/>
          </a:prstGeom>
          <a:solidFill>
            <a:srgbClr val="352125"/>
          </a:solidFill>
          <a:ln>
            <a:noFill/>
          </a:ln>
        </p:spPr>
        <p:txBody>
          <a:bodyPr wrap="square" lIns="180000" rIns="180000" tIns="140000" bIns="60000"/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lang="es-MX" sz="2100" b="0">
                <a:solidFill>
                  <a:srgbClr val="F4EDE3"/>
                </a:solidFill>
                <a:latin typeface="Aptos"/>
              </a:rPr>
              <a:t xml:space="preserve">CAPTURAS PARA LA ENTREGA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lang="es-MX" sz="2100" b="0">
                <a:solidFill>
                  <a:srgbClr val="F4EDE3"/>
                </a:solidFill>
                <a:latin typeface="Aptos"/>
              </a:rPr>
              <a:t xml:space="preserve">Ramas, commits y pull request.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lang="es-MX" sz="2100" b="0">
                <a:solidFill>
                  <a:srgbClr val="F4EDE3"/>
                </a:solidFill>
                <a:latin typeface="Aptos"/>
              </a:rPr>
              <a:t xml:space="preserve">Construcción de la imagen exitosa.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lang="es-MX" sz="2100" b="0">
                <a:solidFill>
                  <a:srgbClr val="F4EDE3"/>
                </a:solidFill>
                <a:latin typeface="Aptos"/>
              </a:rPr>
              <a:t xml:space="preserve">Contenedor visible en docker ps.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lang="es-MX" sz="2100" b="0">
                <a:solidFill>
                  <a:srgbClr val="F4EDE3"/>
                </a:solidFill>
                <a:latin typeface="Aptos"/>
              </a:rPr>
              <a:t xml:space="preserve">PWA abierta y petición a la API.</a:t>
            </a:r>
          </a:p>
        </p:txBody>
      </p:sp>
      <p:sp>
        <p:nvSpPr>
          <p:cNvPr id="7" name="Texto 7"/>
          <p:cNvSpPr txBox="1"/>
          <p:nvPr/>
        </p:nvSpPr>
        <p:spPr>
          <a:xfrm>
            <a:off x="457200" y="6080760"/>
            <a:ext cx="11247120" cy="594360"/>
          </a:xfrm>
          <a:prstGeom prst="rect">
            <a:avLst/>
          </a:prstGeom>
          <a:noFill/>
          <a:ln>
            <a:noFill/>
          </a:ln>
        </p:spPr>
        <p:txBody>
          <a:bodyPr wrap="square" lIns="180000" rIns="180000" tIns="140000" bIns="60000"/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lang="es-MX" sz="1300" b="0">
                <a:solidFill>
                  <a:srgbClr val="C8A97E"/>
                </a:solidFill>
                <a:latin typeface="Aptos"/>
              </a:rPr>
              <a:t xml:space="preserve">Repartir configuración, pruebas y documentación. Cada captura debe explicar qué demuestra.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0F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 2"/>
          <p:cNvSpPr txBox="1"/>
          <p:nvPr/>
        </p:nvSpPr>
        <p:spPr>
          <a:xfrm>
            <a:off x="457200" y="228600"/>
            <a:ext cx="11247120" cy="411480"/>
          </a:xfrm>
          <a:prstGeom prst="rect">
            <a:avLst/>
          </a:prstGeom>
          <a:noFill/>
          <a:ln>
            <a:noFill/>
          </a:ln>
        </p:spPr>
        <p:txBody>
          <a:bodyPr wrap="square" lIns="180000" rIns="180000" tIns="140000" bIns="60000"/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lang="es-MX" sz="1200" b="0">
                <a:solidFill>
                  <a:srgbClr val="C8A97E"/>
                </a:solidFill>
                <a:latin typeface="Aptos"/>
              </a:rPr>
              <a:t xml:space="preserve">EOT  /  GIT + DOCKER                                            10 / 10</a:t>
            </a:r>
          </a:p>
        </p:txBody>
      </p:sp>
      <p:sp>
        <p:nvSpPr>
          <p:cNvPr id="3" name="Texto 3"/>
          <p:cNvSpPr txBox="1"/>
          <p:nvPr/>
        </p:nvSpPr>
        <p:spPr>
          <a:xfrm>
            <a:off x="457200" y="868680"/>
            <a:ext cx="11247120" cy="777240"/>
          </a:xfrm>
          <a:prstGeom prst="rect">
            <a:avLst/>
          </a:prstGeom>
          <a:noFill/>
          <a:ln>
            <a:noFill/>
          </a:ln>
        </p:spPr>
        <p:txBody>
          <a:bodyPr wrap="square" lIns="180000" rIns="180000" tIns="140000" bIns="60000"/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lang="es-MX" sz="3200" b="1">
                <a:solidFill>
                  <a:srgbClr val="F4EDE3"/>
                </a:solidFill>
                <a:latin typeface="Aptos"/>
              </a:rPr>
              <a:t xml:space="preserve">Conclusiones</a:t>
            </a:r>
          </a:p>
        </p:txBody>
      </p:sp>
      <p:sp>
        <p:nvSpPr>
          <p:cNvPr id="4" name="Texto 4"/>
          <p:cNvSpPr txBox="1"/>
          <p:nvPr/>
        </p:nvSpPr>
        <p:spPr>
          <a:xfrm>
            <a:off x="457200" y="1691640"/>
            <a:ext cx="11247120" cy="594360"/>
          </a:xfrm>
          <a:prstGeom prst="rect">
            <a:avLst/>
          </a:prstGeom>
          <a:noFill/>
          <a:ln>
            <a:noFill/>
          </a:ln>
        </p:spPr>
        <p:txBody>
          <a:bodyPr wrap="square" lIns="180000" rIns="180000" tIns="140000" bIns="60000"/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lang="es-MX" sz="1800" b="0">
                <a:solidFill>
                  <a:srgbClr val="BDB7B1"/>
                </a:solidFill>
                <a:latin typeface="Aptos"/>
              </a:rPr>
              <a:t xml:space="preserve">Qué aporta esta práctica al desarrollo del proyecto.</a:t>
            </a:r>
          </a:p>
        </p:txBody>
      </p:sp>
      <p:sp>
        <p:nvSpPr>
          <p:cNvPr id="5" name="Texto 5"/>
          <p:cNvSpPr txBox="1"/>
          <p:nvPr/>
        </p:nvSpPr>
        <p:spPr>
          <a:xfrm>
            <a:off x="594360" y="2468880"/>
            <a:ext cx="5394960" cy="3520440"/>
          </a:xfrm>
          <a:prstGeom prst="rect">
            <a:avLst/>
          </a:prstGeom>
          <a:solidFill>
            <a:srgbClr val="252126"/>
          </a:solidFill>
          <a:ln>
            <a:noFill/>
          </a:ln>
        </p:spPr>
        <p:txBody>
          <a:bodyPr wrap="square" lIns="180000" rIns="180000" tIns="140000" bIns="60000"/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lang="es-MX" sz="2100" b="0">
                <a:solidFill>
                  <a:srgbClr val="F4EDE3"/>
                </a:solidFill>
                <a:latin typeface="Aptos"/>
              </a:rPr>
              <a:t xml:space="preserve">GIT Y GITHUB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lang="es-MX" sz="2100" b="0">
                <a:solidFill>
                  <a:srgbClr val="F4EDE3"/>
                </a:solidFill>
                <a:latin typeface="Aptos"/>
              </a:rPr>
              <a:t xml:space="preserve">Permiten registrar cambios y coordinar aportaciones.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lang="es-MX" sz="2100" b="0">
                <a:solidFill>
                  <a:srgbClr val="F4EDE3"/>
                </a:solidFill>
                <a:latin typeface="Aptos"/>
              </a:rPr>
              <a:t xml:space="preserve">La revisión mediante pull requests ayuda a integrar el trabajo del equipo.</a:t>
            </a:r>
          </a:p>
        </p:txBody>
      </p:sp>
      <p:sp>
        <p:nvSpPr>
          <p:cNvPr id="6" name="Texto 6"/>
          <p:cNvSpPr txBox="1"/>
          <p:nvPr/>
        </p:nvSpPr>
        <p:spPr>
          <a:xfrm>
            <a:off x="6217920" y="2468880"/>
            <a:ext cx="5394960" cy="3520440"/>
          </a:xfrm>
          <a:prstGeom prst="rect">
            <a:avLst/>
          </a:prstGeom>
          <a:solidFill>
            <a:srgbClr val="352125"/>
          </a:solidFill>
          <a:ln>
            <a:noFill/>
          </a:ln>
        </p:spPr>
        <p:txBody>
          <a:bodyPr wrap="square" lIns="180000" rIns="180000" tIns="140000" bIns="60000"/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lang="es-MX" sz="2100" b="0">
                <a:solidFill>
                  <a:srgbClr val="F4EDE3"/>
                </a:solidFill>
                <a:latin typeface="Aptos"/>
              </a:rPr>
              <a:t xml:space="preserve">DOCKER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lang="es-MX" sz="2100" b="0">
                <a:solidFill>
                  <a:srgbClr val="F4EDE3"/>
                </a:solidFill>
                <a:latin typeface="Aptos"/>
              </a:rPr>
              <a:t xml:space="preserve">Empaqueta una versión de la PWA con su servidor web.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lang="es-MX" sz="2100" b="0">
                <a:solidFill>
                  <a:srgbClr val="F4EDE3"/>
                </a:solidFill>
                <a:latin typeface="Aptos"/>
              </a:rPr>
              <a:t xml:space="preserve">Facilita las pruebas y el despliegue en un entorno consistente.</a:t>
            </a:r>
          </a:p>
        </p:txBody>
      </p:sp>
      <p:sp>
        <p:nvSpPr>
          <p:cNvPr id="7" name="Texto 7"/>
          <p:cNvSpPr txBox="1"/>
          <p:nvPr/>
        </p:nvSpPr>
        <p:spPr>
          <a:xfrm>
            <a:off x="457200" y="6080760"/>
            <a:ext cx="11247120" cy="594360"/>
          </a:xfrm>
          <a:prstGeom prst="rect">
            <a:avLst/>
          </a:prstGeom>
          <a:noFill/>
          <a:ln>
            <a:noFill/>
          </a:ln>
        </p:spPr>
        <p:txBody>
          <a:bodyPr wrap="square" lIns="180000" rIns="180000" tIns="140000" bIns="60000"/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lang="es-MX" sz="1300" b="0">
                <a:solidFill>
                  <a:srgbClr val="C8A97E"/>
                </a:solidFill>
                <a:latin typeface="Aptos"/>
              </a:rPr>
              <a:t xml:space="preserve">Siguiente paso: contenerizar Spring Boot y coordinar ambos servicios con Docker Compose.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OT">
  <a:themeElements>
    <a:clrScheme name="EOT">
      <a:dk1>
        <a:srgbClr val="120F12"/>
      </a:dk1>
      <a:lt1>
        <a:srgbClr val="FFFFFF"/>
      </a:lt1>
      <a:dk2>
        <a:srgbClr val="252126"/>
      </a:dk2>
      <a:lt2>
        <a:srgbClr val="F4EDE3"/>
      </a:lt2>
      <a:accent1>
        <a:srgbClr val="9E2A2B"/>
      </a:accent1>
      <a:accent2>
        <a:srgbClr val="C8A97E"/>
      </a:accent2>
      <a:accent3>
        <a:srgbClr val="2F80ED"/>
      </a:accent3>
      <a:accent4>
        <a:srgbClr val="27AE60"/>
      </a:accent4>
      <a:accent5>
        <a:srgbClr val="8C7D73"/>
      </a:accent5>
      <a:accent6>
        <a:srgbClr val="E2B93B"/>
      </a:accent6>
      <a:hlink>
        <a:srgbClr val="2F80ED"/>
      </a:hlink>
      <a:folHlink>
        <a:srgbClr val="C8A97E"/>
      </a:folHlink>
    </a:clrScheme>
    <a:fontScheme name="Aptos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EO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  <a:prstDash val="solid"/>
        </a:ln>
        <a:ln w="9525">
          <a:solidFill>
            <a:schemeClr val="phClr"/>
          </a:solidFill>
          <a:prstDash val="solid"/>
        </a:ln>
        <a:ln w="9525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